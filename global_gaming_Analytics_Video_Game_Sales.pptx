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0CE80A0-11D9-35A3-4694-4872C640F14E}">
          <p14:sldIdLst>
            <p14:sldId id="256"/>
          </p14:sldIdLst>
        </p14:section>
        <p14:section name="Project" id="{D950C62A-F233-92F8-72A9-4C9384173AF9}">
          <p14:sldIdLst>
            <p14:sldId id="257"/>
          </p14:sldIdLst>
        </p14:section>
        <p14:section name="Findings" id="{500B9C65-985C-A603-70C3-5A2EB5C066D0}">
          <p14:sldIdLst>
            <p14:sldId id="258"/>
            <p14:sldId id="259"/>
            <p14:sldId id="260"/>
            <p14:sldId id="261"/>
            <p14:sldId id="262"/>
          </p14:sldIdLst>
        </p14:section>
        <p14:section name="Wrap-up" id="{0FC84F2E-35F1-945D-E717-DC0EE50DDC0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0A28-4A1F-869E-0CB3380EFF5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28-4A1F-869E-0CB3380EFF5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0A28-4A1F-869E-0CB3380EFF5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28-4A1F-869E-0CB3380EFF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PS2</c:v>
                </c:pt>
                <c:pt idx="1">
                  <c:v>X360</c:v>
                </c:pt>
                <c:pt idx="2">
                  <c:v>PS3</c:v>
                </c:pt>
                <c:pt idx="3">
                  <c:v>PS</c:v>
                </c:pt>
                <c:pt idx="4">
                  <c:v>PS4</c:v>
                </c:pt>
                <c:pt idx="5">
                  <c:v>Wii</c:v>
                </c:pt>
                <c:pt idx="6">
                  <c:v>DS</c:v>
                </c:pt>
                <c:pt idx="7">
                  <c:v>XOne</c:v>
                </c:pt>
                <c:pt idx="8">
                  <c:v>PSP</c:v>
                </c:pt>
                <c:pt idx="9">
                  <c:v>XB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1028</c:v>
                </c:pt>
                <c:pt idx="1">
                  <c:v>860</c:v>
                </c:pt>
                <c:pt idx="2">
                  <c:v>840</c:v>
                </c:pt>
                <c:pt idx="3">
                  <c:v>546</c:v>
                </c:pt>
                <c:pt idx="4">
                  <c:v>540</c:v>
                </c:pt>
                <c:pt idx="5">
                  <c:v>459</c:v>
                </c:pt>
                <c:pt idx="6">
                  <c:v>458</c:v>
                </c:pt>
                <c:pt idx="7">
                  <c:v>269</c:v>
                </c:pt>
                <c:pt idx="8">
                  <c:v>245</c:v>
                </c:pt>
                <c:pt idx="9">
                  <c:v>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28-4A1F-869E-0CB3380EFF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E3-4EBB-AFE8-5456471BEA26}"/>
              </c:ext>
            </c:extLst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E3-4EBB-AFE8-5456471BEA26}"/>
              </c:ext>
            </c:extLst>
          </c:dPt>
          <c:dPt>
            <c:idx val="2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E3-4EBB-AFE8-5456471BEA26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E3-4EBB-AFE8-5456471BEA2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E3-4EBB-AFE8-5456471BEA2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E3-4EBB-AFE8-5456471BEA2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E3-4EBB-AFE8-5456471BEA2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E3-4EBB-AFE8-5456471BEA2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 &amp; Africa</c:v>
                </c:pt>
                <c:pt idx="2">
                  <c:v>Japan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50.68</c:v>
                </c:pt>
                <c:pt idx="1">
                  <c:v>29.04</c:v>
                </c:pt>
                <c:pt idx="2">
                  <c:v>10.42</c:v>
                </c:pt>
                <c:pt idx="3">
                  <c:v>9.86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E3-4EBB-AFE8-5456471BE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57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GCS Analytics dashboard: global video game sales by console, year, region and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comes from the VGChartz 2024 file and is visualized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KPIs from the top row of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 totals in millions of sales. PS2 leads, followed by Xbox 360 and PS3.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Yearly sales in millions. Values are read from the dashboard line chart. The 2020 drop reflects incomplete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split of the $6.61B total. North America 50.68%, Europe and Africa 29.04%, Japan 10.42%, other 9.86%.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of the console and genre table. The dashboard total row matches the KPIs: $6.61B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main conclusions,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&amp; PUBLISHER HUB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GCS Analytics: Video Game Sales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VGChartz dataset, 1977-2020, built as a Power BI dashboard</a:t>
            </a:r>
            <a:endParaRPr lang="en-US" sz="1800" dirty="0"/>
          </a:p>
        </p:txBody>
      </p:sp>
      <p:sp>
        <p:nvSpPr>
          <p:cNvPr id="5" name="Pill 1"/>
          <p:cNvSpPr/>
          <p:nvPr/>
        </p:nvSpPr>
        <p:spPr>
          <a:xfrm>
            <a:off x="640080" y="411480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$6.61B</a:t>
            </a:r>
            <a:endParaRPr lang="en-US" sz="1600" dirty="0"/>
          </a:p>
        </p:txBody>
      </p:sp>
      <p:sp>
        <p:nvSpPr>
          <p:cNvPr id="7" name="Pill 2"/>
          <p:cNvSpPr/>
          <p:nvPr/>
        </p:nvSpPr>
        <p:spPr>
          <a:xfrm>
            <a:off x="2103120" y="411480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10312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600" dirty="0"/>
          </a:p>
        </p:txBody>
      </p:sp>
      <p:sp>
        <p:nvSpPr>
          <p:cNvPr id="9" name="Pill 3"/>
          <p:cNvSpPr/>
          <p:nvPr/>
        </p:nvSpPr>
        <p:spPr>
          <a:xfrm>
            <a:off x="3566160" y="411480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56616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yrs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Card Dataset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dge 1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VGChartz 2024 sales records: console, genre, publisher, release year and regional sales</a:t>
            </a:r>
            <a:endParaRPr lang="en-US" sz="1400" dirty="0"/>
          </a:p>
        </p:txBody>
      </p:sp>
      <p:sp>
        <p:nvSpPr>
          <p:cNvPr id="8" name="Card Tool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Badge 2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with KPI cards, charts, a detail table and interactive slicers</a:t>
            </a:r>
            <a:endParaRPr lang="en-US" sz="1400" dirty="0"/>
          </a:p>
        </p:txBody>
      </p:sp>
      <p:sp>
        <p:nvSpPr>
          <p:cNvPr id="13" name="Card Scope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Badge 3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772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consoles and releases from 1977 to 2020, measured in sales of millions</a:t>
            </a:r>
            <a:endParaRPr lang="en-US" sz="1400" dirty="0"/>
          </a:p>
        </p:txBody>
      </p:sp>
      <p:sp>
        <p:nvSpPr>
          <p:cNvPr id="18" name="Card Interactivity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Badge 4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genre and release-year range, with a one-click Reset Slicers button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numbers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548640" y="13716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dot 1"/>
          <p:cNvSpPr/>
          <p:nvPr/>
        </p:nvSpPr>
        <p:spPr>
          <a:xfrm>
            <a:off x="731520" y="160020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$6.61B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2606040" y="13716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KPI dot 2"/>
          <p:cNvSpPr/>
          <p:nvPr/>
        </p:nvSpPr>
        <p:spPr>
          <a:xfrm>
            <a:off x="2788920" y="160020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$95.7M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publisher metric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4663440" y="13716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KPI dot 3"/>
          <p:cNvSpPr/>
          <p:nvPr/>
        </p:nvSpPr>
        <p:spPr>
          <a:xfrm>
            <a:off x="4846320" y="1600200"/>
            <a:ext cx="256032" cy="25603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006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$0.51M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yield</a:t>
            </a:r>
            <a:endParaRPr lang="en-US" sz="1400" dirty="0"/>
          </a:p>
        </p:txBody>
      </p:sp>
      <p:sp>
        <p:nvSpPr>
          <p:cNvPr id="15" name="KPI card 4"/>
          <p:cNvSpPr/>
          <p:nvPr/>
        </p:nvSpPr>
        <p:spPr>
          <a:xfrm>
            <a:off x="6720840" y="13716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KPI dot 4"/>
          <p:cNvSpPr/>
          <p:nvPr/>
        </p:nvSpPr>
        <p:spPr>
          <a:xfrm>
            <a:off x="6903720" y="160020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8580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consoles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39 systems, the catalogue totals $6.61 billion in sales.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PlayStation dominates the top 10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999333863"/>
              </p:ext>
            </p:extLst>
          </p:nvPr>
        </p:nvGraphicFramePr>
        <p:xfrm>
          <a:off x="54864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card"/>
          <p:cNvSpPr/>
          <p:nvPr/>
        </p:nvSpPr>
        <p:spPr>
          <a:xfrm>
            <a:off x="594360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61722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PS2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1,028M in sales, the best-selling console in the dataset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systems fill 5 of the top 10 spots: PS2, PS3, PS, PS4 and PSP.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peaked around 2008</a:t>
            </a:r>
            <a:endParaRPr lang="en-US" sz="3200" dirty="0"/>
          </a:p>
        </p:txBody>
      </p:sp>
      <p:sp>
        <p:nvSpPr>
          <p:cNvPr id="3" name="Timeline axis"/>
          <p:cNvSpPr/>
          <p:nvPr/>
        </p:nvSpPr>
        <p:spPr>
          <a:xfrm>
            <a:off x="822960" y="2377440"/>
            <a:ext cx="7498080" cy="0"/>
          </a:xfrm>
          <a:prstGeom prst="line">
            <a:avLst/>
          </a:prstGeom>
          <a:noFill/>
          <a:ln w="38100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Milestone 1"/>
          <p:cNvSpPr/>
          <p:nvPr/>
        </p:nvSpPr>
        <p:spPr>
          <a:xfrm>
            <a:off x="1325880" y="2240280"/>
            <a:ext cx="274320" cy="274320"/>
          </a:xfrm>
          <a:prstGeom prst="ellipse">
            <a:avLst/>
          </a:prstGeom>
          <a:solidFill>
            <a:srgbClr val="EAB308"/>
          </a:solidFill>
          <a:ln w="381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1977-1995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30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start, a few titles per year</a:t>
            </a:r>
            <a:endParaRPr lang="en-US" sz="1400" dirty="0"/>
          </a:p>
        </p:txBody>
      </p:sp>
      <p:sp>
        <p:nvSpPr>
          <p:cNvPr id="8" name="Milestone 2"/>
          <p:cNvSpPr/>
          <p:nvPr/>
        </p:nvSpPr>
        <p:spPr>
          <a:xfrm>
            <a:off x="3383280" y="2240280"/>
            <a:ext cx="274320" cy="2743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6060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~314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big plateau as PS2 era takes off</a:t>
            </a:r>
            <a:endParaRPr lang="en-US" sz="1400" dirty="0"/>
          </a:p>
        </p:txBody>
      </p:sp>
      <p:sp>
        <p:nvSpPr>
          <p:cNvPr id="12" name="Milestone 3"/>
          <p:cNvSpPr/>
          <p:nvPr/>
        </p:nvSpPr>
        <p:spPr>
          <a:xfrm>
            <a:off x="5440680" y="2240280"/>
            <a:ext cx="274320" cy="274320"/>
          </a:xfrm>
          <a:prstGeom prst="ellipse">
            <a:avLst/>
          </a:prstGeom>
          <a:solidFill>
            <a:srgbClr val="22C55E"/>
          </a:solidFill>
          <a:ln w="381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~2008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peak in yearly sales</a:t>
            </a:r>
            <a:endParaRPr lang="en-US" sz="1400" dirty="0"/>
          </a:p>
        </p:txBody>
      </p:sp>
      <p:sp>
        <p:nvSpPr>
          <p:cNvPr id="16" name="Milestone 4"/>
          <p:cNvSpPr/>
          <p:nvPr/>
        </p:nvSpPr>
        <p:spPr>
          <a:xfrm>
            <a:off x="7498080" y="2240280"/>
            <a:ext cx="274320" cy="274320"/>
          </a:xfrm>
          <a:prstGeom prst="ellipse">
            <a:avLst/>
          </a:prstGeom>
          <a:solidFill>
            <a:srgbClr val="EF4444"/>
          </a:solidFill>
          <a:ln w="381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7208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drop, likely incomplete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drives half of sales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4023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gion card 1"/>
          <p:cNvSpPr/>
          <p:nvPr/>
        </p:nvSpPr>
        <p:spPr>
          <a:xfrm>
            <a:off x="4754880" y="1188720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gion dot 1"/>
          <p:cNvSpPr/>
          <p:nvPr/>
        </p:nvSpPr>
        <p:spPr>
          <a:xfrm>
            <a:off x="4983480" y="143560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39496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188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$3.35B</a:t>
            </a:r>
            <a:endParaRPr lang="en-US" sz="2200" dirty="0"/>
          </a:p>
        </p:txBody>
      </p:sp>
      <p:sp>
        <p:nvSpPr>
          <p:cNvPr id="8" name="Region card 2"/>
          <p:cNvSpPr/>
          <p:nvPr/>
        </p:nvSpPr>
        <p:spPr>
          <a:xfrm>
            <a:off x="4754880" y="2057400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gion dot 2"/>
          <p:cNvSpPr/>
          <p:nvPr/>
        </p:nvSpPr>
        <p:spPr>
          <a:xfrm>
            <a:off x="4983480" y="2304288"/>
            <a:ext cx="237744" cy="23774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39496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Africa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$1.92B</a:t>
            </a:r>
            <a:endParaRPr lang="en-US" sz="2200" dirty="0"/>
          </a:p>
        </p:txBody>
      </p:sp>
      <p:sp>
        <p:nvSpPr>
          <p:cNvPr id="12" name="Region card 3"/>
          <p:cNvSpPr/>
          <p:nvPr/>
        </p:nvSpPr>
        <p:spPr>
          <a:xfrm>
            <a:off x="4754880" y="2926080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gion dot 3"/>
          <p:cNvSpPr/>
          <p:nvPr/>
        </p:nvSpPr>
        <p:spPr>
          <a:xfrm>
            <a:off x="4983480" y="3172968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5394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$687.9M</a:t>
            </a:r>
            <a:endParaRPr lang="en-US" sz="2200" dirty="0"/>
          </a:p>
        </p:txBody>
      </p:sp>
      <p:sp>
        <p:nvSpPr>
          <p:cNvPr id="16" name="Region card 4"/>
          <p:cNvSpPr/>
          <p:nvPr/>
        </p:nvSpPr>
        <p:spPr>
          <a:xfrm>
            <a:off x="4754880" y="3794760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gion dot 4"/>
          <p:cNvSpPr/>
          <p:nvPr/>
        </p:nvSpPr>
        <p:spPr>
          <a:xfrm>
            <a:off x="4983480" y="4041648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539496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countries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$651.1M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console and genre meet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8163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&amp; Africa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$90.3M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$56.0M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$25.9M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$58.9M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$89.0M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$21.0M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Fighting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$66.8M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$31.7M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$66.4M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$33.8M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$57.7M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$23.4M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E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rows from the dashboard detail table. Shooter and Sports titles lead in North America; RPGs sell relatively well in Japan.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akeaway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akeaway badge 1"/>
          <p:cNvSpPr/>
          <p:nvPr/>
        </p:nvSpPr>
        <p:spPr>
          <a:xfrm>
            <a:off x="777240" y="1335024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Sony leads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18872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is the top console at 1,028M, with PlayStation systems in half the top 10</a:t>
            </a:r>
            <a:endParaRPr lang="en-US" sz="1400" dirty="0"/>
          </a:p>
        </p:txBody>
      </p:sp>
      <p:sp>
        <p:nvSpPr>
          <p:cNvPr id="8" name="Takeaway 2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akeaway badge 2"/>
          <p:cNvSpPr/>
          <p:nvPr/>
        </p:nvSpPr>
        <p:spPr>
          <a:xfrm>
            <a:off x="777240" y="220370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 was the peak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05740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PS3, Xbox 360 and Wii era drove yearly sales to about 538M</a:t>
            </a:r>
            <a:endParaRPr lang="en-US" sz="1400" dirty="0"/>
          </a:p>
        </p:txBody>
      </p:sp>
      <p:sp>
        <p:nvSpPr>
          <p:cNvPr id="13" name="Takeaway 3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akeaway badge 3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772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matters most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92608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50.68% of global sales, with Europe and Africa at 29%</a:t>
            </a:r>
            <a:endParaRPr lang="en-US" sz="1400" dirty="0"/>
          </a:p>
        </p:txBody>
      </p:sp>
      <p:sp>
        <p:nvSpPr>
          <p:cNvPr id="18" name="Takeaway 4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16213A"/>
          </a:solidFill>
          <a:ln w="9525">
            <a:solidFill>
              <a:srgbClr val="253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akeaway badge 4"/>
          <p:cNvSpPr/>
          <p:nvPr/>
        </p:nvSpPr>
        <p:spPr>
          <a:xfrm>
            <a:off x="777240" y="3941064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772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shapes the market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79476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Shooters and Sports win in the West, RPGs and Fighting help in Japan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S Analytics">
  <a:themeElements>
    <a:clrScheme name="GCS Analytics">
      <a:dk1>
        <a:srgbClr val="0B1220"/>
      </a:dk1>
      <a:lt1>
        <a:srgbClr val="FFFFFF"/>
      </a:lt1>
      <a:dk2>
        <a:srgbClr val="16213A"/>
      </a:dk2>
      <a:lt2>
        <a:srgbClr val="E6EBF5"/>
      </a:lt2>
      <a:accent1>
        <a:srgbClr val="3B82F6"/>
      </a:accent1>
      <a:accent2>
        <a:srgbClr val="22C55E"/>
      </a:accent2>
      <a:accent3>
        <a:srgbClr val="EAB308"/>
      </a:accent3>
      <a:accent4>
        <a:srgbClr val="EC4899"/>
      </a:accent4>
      <a:accent5>
        <a:srgbClr val="EF4444"/>
      </a:accent5>
      <a:accent6>
        <a:srgbClr val="38BDF8"/>
      </a:accent6>
      <a:hlink>
        <a:srgbClr val="38BDF8"/>
      </a:hlink>
      <a:folHlink>
        <a:srgbClr val="94A3B8"/>
      </a:folHlink>
    </a:clrScheme>
    <a:fontScheme name="GCS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568</Words>
  <Application>Microsoft Office PowerPoint</Application>
  <PresentationFormat>On-screen Show (16:9)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GCS Analytics</vt:lpstr>
      <vt:lpstr>GCS Analytics: Video Game Sales Analysis</vt:lpstr>
      <vt:lpstr>Project overview</vt:lpstr>
      <vt:lpstr>Headline numbers</vt:lpstr>
      <vt:lpstr>PlayStation dominates the top 10</vt:lpstr>
      <vt:lpstr>Sales peaked around 2008</vt:lpstr>
      <vt:lpstr>North America drives half of sales</vt:lpstr>
      <vt:lpstr>Where console and genre meet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 Analytics - Video Game Sales</dc:title>
  <dc:subject>PptxGenJS Presentation</dc:subject>
  <dc:creator>PptxGenJS</dc:creator>
  <cp:lastModifiedBy>prince yadav</cp:lastModifiedBy>
  <cp:revision>2</cp:revision>
  <dcterms:created xsi:type="dcterms:W3CDTF">2026-10-09T11:02:15Z</dcterms:created>
  <dcterms:modified xsi:type="dcterms:W3CDTF">2026-10-09T11:08:41Z</dcterms:modified>
</cp:coreProperties>
</file>